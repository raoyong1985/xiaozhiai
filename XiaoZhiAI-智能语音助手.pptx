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6366F1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4114800" cy="4114800"/>
          </a:xfrm>
          <a:prstGeom prst="ellipse">
            <a:avLst/>
          </a:prstGeom>
          <a:solidFill>
            <a:srgbClr val="22D3EE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0" y="-457200"/>
            <a:ext cx="2743200" cy="2743200"/>
          </a:xfrm>
          <a:prstGeom prst="ellipse">
            <a:avLst/>
          </a:prstGeom>
          <a:solidFill>
            <a:srgbClr val="818CF8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XiaoZhiAI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智能语音助手 · Android 原生应用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2926080"/>
            <a:ext cx="2286000" cy="36576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 Android 手机像 ESP32 设备一样连接小智 AI 后台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+ Jetpack Compose | Clean Architecture + MVVM | Opus Audio | WebSocket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项目概述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974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54864" cy="30175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项目定位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 Android 手机模拟 ESP32 设备行为，通过 WebSocket 连接小智 AI 后台，实现完整的语音/文字对话功能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371600"/>
            <a:ext cx="26974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371600"/>
            <a:ext cx="54864" cy="30175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3520440" y="15544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目标用户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20440" y="205740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希望使用手机而非 ESP32 设备与小智 AI 对话的用户，无需额外硬件即可体验 AI 语音助手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371600"/>
            <a:ext cx="26974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371600"/>
            <a:ext cx="54864" cy="30175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5544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核心价值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205740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零硬件成本、移动便携、支持多智能体群聊、20+ MCP 工具、三种对话模式自由切换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技术架构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 + MVVM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960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54864" cy="9601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533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Presentation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71907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UI · ViewModel · StateFlow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8229600" cy="960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468880"/>
            <a:ext cx="54864" cy="9601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542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Domain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290779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· Repository Interfaces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8229600" cy="960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657600"/>
            <a:ext cx="54864" cy="9601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7307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409651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· Audio · DB · MCP · Device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160520"/>
            <a:ext cx="8229600" cy="685800"/>
          </a:xfrm>
          <a:prstGeom prst="rect">
            <a:avLst/>
          </a:prstGeom>
          <a:solidFill>
            <a:srgbClr val="312E81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4160520"/>
            <a:ext cx="54864" cy="6858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206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 Container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45262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AppContainer.kt — 手动依赖注入，管理多 WebSocket 连接实例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233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36576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258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91640" y="1325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Jetpack Compose + Material3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40233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280160"/>
            <a:ext cx="36576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3258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状态管理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89320" y="1325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ViewModel + StateFlow + SharedFlow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965960"/>
            <a:ext cx="40233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965960"/>
            <a:ext cx="36576" cy="5486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0116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网络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691640" y="2011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OkHttp WebSocket + HTTP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965960"/>
            <a:ext cx="40233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965960"/>
            <a:ext cx="36576" cy="54864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20116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录音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89320" y="2011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AudioRecord (VOICE_RECOGNITION 16kHz)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651760"/>
            <a:ext cx="40233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651760"/>
            <a:ext cx="36576" cy="54864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2697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编码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691640" y="2697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MediaCodec (MIMETYPE_AUDIO_OPUS)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651760"/>
            <a:ext cx="40233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651760"/>
            <a:ext cx="36576" cy="54864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2697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解码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89320" y="2697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libopus via JNI (CMake + NDK)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337560"/>
            <a:ext cx="40233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337560"/>
            <a:ext cx="36576" cy="54864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33832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音频播放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691640" y="3383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AudioTrack (STREAM_MUSIC)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3337560"/>
            <a:ext cx="40233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3337560"/>
            <a:ext cx="36576" cy="54864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5" name="Text 33"/>
          <p:cNvSpPr/>
          <p:nvPr/>
        </p:nvSpPr>
        <p:spPr>
          <a:xfrm>
            <a:off x="4892040" y="33832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存储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89320" y="3383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DataStore Preferences + Gson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4023360"/>
            <a:ext cx="40233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57200" y="4023360"/>
            <a:ext cx="36576" cy="54864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9" name="Text 37"/>
          <p:cNvSpPr/>
          <p:nvPr/>
        </p:nvSpPr>
        <p:spPr>
          <a:xfrm>
            <a:off x="594360" y="4069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定位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691640" y="4069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FusedLocationProviderClient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54880" y="4023360"/>
            <a:ext cx="40233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54880" y="4023360"/>
            <a:ext cx="36576" cy="54864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43" name="Text 41"/>
          <p:cNvSpPr/>
          <p:nvPr/>
        </p:nvSpPr>
        <p:spPr>
          <a:xfrm>
            <a:off x="4892040" y="4069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989320" y="4069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AGP 8.2.0 · Kotlin 1.9.20 · minSdk 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项目结构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com.xiaozhi.aiservice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34440"/>
            <a:ext cx="36576" cy="32004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61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di/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0" y="12618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AppContainer.kt — 手动 DI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82296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645920"/>
            <a:ext cx="36576" cy="32004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6733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data/audio/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26080" y="16733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AudioService · OpusEncoder · NativeOpusDecoder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057400"/>
            <a:ext cx="82296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057400"/>
            <a:ext cx="36576" cy="3200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0848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data/remote/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26080" y="20848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XiaoZhiBackendService (WebSocket) · MCPTool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468880"/>
            <a:ext cx="82296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2468880"/>
            <a:ext cx="36576" cy="32004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4963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data/repository/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926080" y="24963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· Message · Contacts · GroupChat · Device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2880360"/>
            <a:ext cx="36576" cy="32004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907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domain/model/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926080" y="29077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Models.kt — AiState, ChatMessage, BotContact 等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3291840"/>
            <a:ext cx="36576" cy="3200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3192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presentation/ui/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926080" y="33192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MainActivity · ChatScreen · ContactsScreen · GroupChat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703320"/>
            <a:ext cx="82296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" y="3703320"/>
            <a:ext cx="36576" cy="3200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37307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presentation/viewmodel/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926080" y="37307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ChatVM · ContactsVM · GroupChatVM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4" name="Shape 32"/>
          <p:cNvSpPr/>
          <p:nvPr/>
        </p:nvSpPr>
        <p:spPr>
          <a:xfrm>
            <a:off x="457200" y="4114800"/>
            <a:ext cx="36576" cy="3200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41422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presentation/theme/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926080" y="41422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Theme.kt · Type.kt (Material3 动态主题)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8" name="Shape 36"/>
          <p:cNvSpPr/>
          <p:nvPr/>
        </p:nvSpPr>
        <p:spPr>
          <a:xfrm>
            <a:off x="457200" y="4526280"/>
            <a:ext cx="36576" cy="32004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45537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utils/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926080" y="45537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 · DeviceIdHelper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核心功能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36576" cy="5029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161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语音对话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4447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麦克风录音 → Opus 编码 → WebSocket 发送 → 接收解码播放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02336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88720"/>
            <a:ext cx="36576" cy="5029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21615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文字对话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14447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文字输入模式，支持混合语音/文字切换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810512"/>
            <a:ext cx="402336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810512"/>
            <a:ext cx="36576" cy="5029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18379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模式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206654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连续对话 — AI 回复完自动重启监听，无需手动操作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1810512"/>
            <a:ext cx="402336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810512"/>
            <a:ext cx="36576" cy="5029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18379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模式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206654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点击录音/再次点击停止，VAD 自动检测静音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432304"/>
            <a:ext cx="402336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432304"/>
            <a:ext cx="36576" cy="5029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245973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模式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268833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按住说话/松开发送，精确控制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2432304"/>
            <a:ext cx="402336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432304"/>
            <a:ext cx="36576" cy="5029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245973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多联系人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268833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添加/编辑/删除多个智能体联系人，独立 WebSocket 连接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054096"/>
            <a:ext cx="402336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054096"/>
            <a:ext cx="36576" cy="5029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30815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群聊接龙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4360" y="33101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多智能体音频/文字自动转发，实现 AI 群聊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3054096"/>
            <a:ext cx="402336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3054096"/>
            <a:ext cx="36576" cy="5029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5" name="Text 33"/>
          <p:cNvSpPr/>
          <p:nvPr/>
        </p:nvSpPr>
        <p:spPr>
          <a:xfrm>
            <a:off x="4892040" y="30815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工具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92040" y="33101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26+ 内置工具 — 天气/搜索/定位/闹钟/日历等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3675888"/>
            <a:ext cx="402336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57200" y="3675888"/>
            <a:ext cx="36576" cy="50292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39" name="Text 37"/>
          <p:cNvSpPr/>
          <p:nvPr/>
        </p:nvSpPr>
        <p:spPr>
          <a:xfrm>
            <a:off x="594360" y="3703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情感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94360" y="39319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实时显示 AI 情感状态 (happy/sad/angry 等)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54880" y="3675888"/>
            <a:ext cx="402336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54880" y="3675888"/>
            <a:ext cx="36576" cy="50292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43" name="Text 41"/>
          <p:cNvSpPr/>
          <p:nvPr/>
        </p:nvSpPr>
        <p:spPr>
          <a:xfrm>
            <a:off x="4892040" y="3703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自动重连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92040" y="39319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指数退避重连 (1s~2min)，无限重试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7200" y="4297680"/>
            <a:ext cx="402336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57200" y="4297680"/>
            <a:ext cx="36576" cy="5029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47" name="Text 45"/>
          <p:cNvSpPr/>
          <p:nvPr/>
        </p:nvSpPr>
        <p:spPr>
          <a:xfrm>
            <a:off x="594360" y="43251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消息持久化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94360" y="45537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聊天记录本地存储，支持导出分享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54880" y="4297680"/>
            <a:ext cx="402336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754880" y="4297680"/>
            <a:ext cx="36576" cy="5029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51" name="Text 49"/>
          <p:cNvSpPr/>
          <p:nvPr/>
        </p:nvSpPr>
        <p:spPr>
          <a:xfrm>
            <a:off x="4892040" y="43251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设备激活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892040" y="45537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支持服务器 challenge-response 激活机制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WebSocket 协议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模拟 ESP32 协议对接小智后台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连接流程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OTA 注册 (HTTP POST) → 获取 token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WebSocket 连接 (带认证 Headers)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发送 hello 握手 (协议版本 + 音频参数)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接收 hello 响应 (session_id + 音频参数)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开始音频/文字会话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84632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消息协议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0" y="1554480"/>
            <a:ext cx="3931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— 建立会话 / 音频参数协商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— 控制监听状态 (start/stop/detect)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 — 语音识别结果（用户说的话）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— TTS 状态 (start/stop/sentence)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— AI 情感状态 (emotion)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— MCP 工具调用请求/响应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abort — 中断当前会话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— 服务器弹窗通知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— 设备激活 (challenge-response)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4160520"/>
            <a:ext cx="8229600" cy="731520"/>
          </a:xfrm>
          <a:prstGeom prst="rect">
            <a:avLst/>
          </a:prstGeom>
          <a:solidFill>
            <a:srgbClr val="312E8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206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二进制协议 — Opus 音频通过二进制 WebSocket 帧传输，自动检测并剥离协议头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4480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BinaryProtocol3 (ESP32): [type(1)][reserved(1)][payload_size(2 big-endian)][payload]  |  小智 1 字节协议: [type(1)][payload]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音频处理管线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Pipeline — 录音 → 编码 → 发送 → 接收 → 解码 → 播放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发送路径 (Send)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691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麦克风 → AudioRecord(VOICE_RECOGNITION, 16kHz) → PCM Buffer → ByteArray Pool → OpusEncoder(MediaCodec, 32kbps) → WebSocket.send(binary)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接收路径 (Receive)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31546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WebSocket.onMessage → stripProtocolHeader() → NativeOpusDecoder → 24kHz PCM → 重采样(24kHz→16kHz linear) → 软限幅器(AGC) → AudioTrack.play(STREAM_MUSIC)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114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关键参数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4348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录音采样率: 16kHz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6634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服务器采样率: 24kHz (hello 协商)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8920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Opus 码率: 32kbps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44348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帧长: 60ms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46634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VAD 阈值: RMS 700 / 静音超时 3s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48920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播放缓存: 16× minBuffer (≈960ms)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状态机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AiState — 4 种状态驱动整个对话生命周期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96596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1965960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801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空闲状态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1188720"/>
            <a:ext cx="196596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06040" y="1188720"/>
            <a:ext cx="1965960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12801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LISTENING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606040" y="16459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正在录音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188720"/>
            <a:ext cx="196596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188720"/>
            <a:ext cx="1965960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2801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PROCESSING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54880" y="16459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ASR/TTS 处理中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03720" y="1188720"/>
            <a:ext cx="196596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03720" y="1188720"/>
            <a:ext cx="1965960" cy="3657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9" name="Text 17"/>
          <p:cNvSpPr/>
          <p:nvPr/>
        </p:nvSpPr>
        <p:spPr>
          <a:xfrm>
            <a:off x="6903720" y="12801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SPEAKING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03720" y="16459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正在说话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模式状态流转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2651760"/>
            <a:ext cx="8229600" cy="109728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7432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IDLE → LISTENING(录音) → SPEAKING(TTS播放) → IDLE → LISTENING(自动重启)...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31089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关键逻辑: TTS 开始时(LISTENING→SPEAKING)立即停止录音防止回声 | AI 说完后(SPEAKING→IDLE)自动重启监听 | 状态机使用 Kotlin Mutex 保证线程安全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三种对话模式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4297680"/>
            <a:ext cx="269748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4297680"/>
            <a:ext cx="36576" cy="64008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43251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MANUAL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94360" y="4572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按住说话/松开发送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337560" y="4297680"/>
            <a:ext cx="269748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1" name="Shape 29"/>
          <p:cNvSpPr/>
          <p:nvPr/>
        </p:nvSpPr>
        <p:spPr>
          <a:xfrm>
            <a:off x="3337560" y="4297680"/>
            <a:ext cx="36576" cy="64008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2" name="Text 30"/>
          <p:cNvSpPr/>
          <p:nvPr/>
        </p:nvSpPr>
        <p:spPr>
          <a:xfrm>
            <a:off x="3474720" y="43251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474720" y="4572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 自动检测 → 连续对话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17920" y="4297680"/>
            <a:ext cx="269748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5" name="Shape 33"/>
          <p:cNvSpPr/>
          <p:nvPr/>
        </p:nvSpPr>
        <p:spPr>
          <a:xfrm>
            <a:off x="6217920" y="4297680"/>
            <a:ext cx="36576" cy="64008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6" name="Text 34"/>
          <p:cNvSpPr/>
          <p:nvPr/>
        </p:nvSpPr>
        <p:spPr>
          <a:xfrm>
            <a:off x="6355080" y="43251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REALTIME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355080" y="4572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点击开始/停止，VAD 辅助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 工具系统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— 26+ 内置工具，AI 可直接调用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36576" cy="8229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80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系统信息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6002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device_info, battery, memory, network, orientation, installed_apps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234440"/>
            <a:ext cx="36576" cy="8229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280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网络工具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16002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web_search, get_public_ip, get_news, open_url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19456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194560"/>
            <a:ext cx="36576" cy="8229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240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本地功能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2560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get_location, get_weather, set_alarm, set_timer, send_notification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219456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194560"/>
            <a:ext cx="36576" cy="8229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2240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系统操作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2560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open_app, set_volume, screen_brightness, vibrate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15468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154680"/>
            <a:ext cx="36576" cy="82296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2004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实用工具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3520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calculate, random_number, encode_decode, dict_lookup, joke, get_calendar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315468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154680"/>
            <a:ext cx="36576" cy="82296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32004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时间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3520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get_current_time (自定义格式)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4206240"/>
            <a:ext cx="8229600" cy="6858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2976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 协议流程: AI 发起 initialize → tools/list 获取工具列表 → tools/call 调用指定工具 → 结果返回 AI 上下文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群聊接龙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多智能体自动对话转发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群聊对话流程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201168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4592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用户发送消息（音频或文字）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转发给群聊中第一个 bot（音频优先，失败用文字兜底）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bot 回复完成后，判断是否需要接龙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如需接龙：将回复内容转发给下一个 bot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所有 bot 回复完成后，接龙结束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核心机制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776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音频转发保护 — 10s 超时等待 bot 说话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接龙防插话 — relaySessionId 代际检查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独立 ViewModel — 每个群独立实例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语音延迟 — BUFFER_MULTIPLIER=6 预热播放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界面设计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Screens — 微信对讲风格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36576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联系人页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377440" y="123444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智能体列表、添加/编辑/删除、切换语音/文字模式、清空/导出聊天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874520"/>
            <a:ext cx="36576" cy="5486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920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主对话页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77440" y="192024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聊天气泡、语音对讲按钮、文字输入框、连接状态指示、AI 状态动画、Alert 弹窗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560320"/>
            <a:ext cx="36576" cy="54864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606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群聊列表页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377440" y="260604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群聊列表、创建/删除群聊、修改群聊名称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246120"/>
            <a:ext cx="36576" cy="54864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291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群聊对话页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377440" y="329184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多智能体接龙对话、文字输入、语音输入、bot 独立身份标识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931920"/>
            <a:ext cx="36576" cy="54864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977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主题系统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377440" y="397764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Material3 动态主题色，支持 Light/Dark 双模式自动切换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572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配色方案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846320"/>
            <a:ext cx="411480" cy="18288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27" name="Shape 25"/>
          <p:cNvSpPr/>
          <p:nvPr/>
        </p:nvSpPr>
        <p:spPr>
          <a:xfrm>
            <a:off x="960120" y="4846320"/>
            <a:ext cx="411480" cy="182880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28" name="Shape 26"/>
          <p:cNvSpPr/>
          <p:nvPr/>
        </p:nvSpPr>
        <p:spPr>
          <a:xfrm>
            <a:off x="1463040" y="4846320"/>
            <a:ext cx="411480" cy="182880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29" name="Shape 27"/>
          <p:cNvSpPr/>
          <p:nvPr/>
        </p:nvSpPr>
        <p:spPr>
          <a:xfrm>
            <a:off x="1965960" y="4846320"/>
            <a:ext cx="411480" cy="1828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0" name="Shape 28"/>
          <p:cNvSpPr/>
          <p:nvPr/>
        </p:nvSpPr>
        <p:spPr>
          <a:xfrm>
            <a:off x="2468880" y="4846320"/>
            <a:ext cx="411480" cy="182880"/>
          </a:xfrm>
          <a:prstGeom prst="rect">
            <a:avLst/>
          </a:prstGeom>
          <a:solidFill>
            <a:srgbClr val="121212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构建配置 &amp; 版本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Configuration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34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当前版本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920240" y="1234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1.0.88 (versionCode 47)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402336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234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最低 SDK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17920" y="1234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(Android 8.0)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737360"/>
            <a:ext cx="402336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783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目标 SDK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20240" y="1783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(Android 14)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737360"/>
            <a:ext cx="402336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783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17920" y="1783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1.9.20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286000"/>
            <a:ext cx="402336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331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20240" y="2331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8.2.0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286000"/>
            <a:ext cx="402336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331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BOM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17920" y="2331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2023.10.01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834640"/>
            <a:ext cx="402336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2880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920240" y="2880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CMake 3.22.1 · C++17 · c++_shared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834640"/>
            <a:ext cx="402336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2880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2880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arm64-v8a + armeabi-v7a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383280"/>
            <a:ext cx="402336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3429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ProGuard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920240" y="3429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保留 JNI / DataStore / 协程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关键依赖库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7200" y="40690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OkHttp 4.12.0 — WebSocket + HTTP 客户端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42519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Gson 2.10.1 — JSON 序列化/反序列化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4348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 Services Location 21.1.0 — FusedLocationProvider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DataStore Preferences 1.0.0 — 本地持久化存储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48006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Coil 2.5.0 — 图片加载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49834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Coroutines 1.7.3 — 异步协程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6366F1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0" y="-457200"/>
            <a:ext cx="2286000" cy="2286000"/>
          </a:xfrm>
          <a:prstGeom prst="ellipse">
            <a:avLst/>
          </a:prstGeom>
          <a:solidFill>
            <a:srgbClr val="818CF8">
              <a:alpha val="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0" y="13716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谢谢聆听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0" y="23774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spc="6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0" y="3017520"/>
            <a:ext cx="1828800" cy="27432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3200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XiaoZhiAI · 让每部手机都拥有 AI 灵魂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0" y="4206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+ Jetpack Compose | Clean Architecture | WebSocket | Opus Audio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XiaoZhiAI - 智能语音助手</dc:title>
  <dc:subject>PptxGenJS Presentation</dc:subject>
  <dc:creator>林小雅</dc:creator>
  <cp:lastModifiedBy>林小雅</cp:lastModifiedBy>
  <cp:revision>1</cp:revision>
  <dcterms:created xsi:type="dcterms:W3CDTF">2026-05-13T07:16:07Z</dcterms:created>
  <dcterms:modified xsi:type="dcterms:W3CDTF">2026-05-13T07:16:07Z</dcterms:modified>
</cp:coreProperties>
</file>